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D200D-0AB4-45F3-8839-C367CB716482}" v="8" dt="2026-05-22T10:55:04.175"/>
    <p1510:client id="{644CBDDE-9A1E-4CDC-9D08-AC02E0C72FC2}" v="126" dt="2026-05-22T11:52:2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28957-AB43-47B0-B900-AAE55E797D7D}" type="datetimeFigureOut"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1B860-E8BC-4D1B-BEC1-70CCB23CD7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0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9" y="667365"/>
            <a:ext cx="7492181" cy="2698955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3366319"/>
            <a:ext cx="5243832" cy="977081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2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60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282304"/>
            <a:ext cx="797405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3442098"/>
            <a:ext cx="797405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9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91572"/>
            <a:ext cx="8018449" cy="84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38" y="1596513"/>
            <a:ext cx="3978313" cy="2883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513"/>
            <a:ext cx="3914775" cy="2883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6" y="696861"/>
            <a:ext cx="7980004" cy="571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260873"/>
            <a:ext cx="3961644" cy="492919"/>
          </a:xfrm>
        </p:spPr>
        <p:txBody>
          <a:bodyPr anchor="b">
            <a:normAutofit/>
          </a:bodyPr>
          <a:lstStyle>
            <a:lvl1pPr marL="0" indent="0">
              <a:buNone/>
              <a:defRPr sz="2844" b="1">
                <a:latin typeface="+mj-lt"/>
              </a:defRPr>
            </a:lvl1pPr>
            <a:lvl2pPr marL="812810" indent="0">
              <a:buNone/>
              <a:defRPr sz="2844" b="1"/>
            </a:lvl2pPr>
            <a:lvl3pPr marL="1625620" indent="0">
              <a:buNone/>
              <a:defRPr sz="2844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1878807"/>
            <a:ext cx="3961644" cy="2567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3"/>
            <a:ext cx="3887391" cy="492919"/>
          </a:xfrm>
        </p:spPr>
        <p:txBody>
          <a:bodyPr anchor="b">
            <a:normAutofit/>
          </a:bodyPr>
          <a:lstStyle>
            <a:lvl1pPr marL="0" indent="0">
              <a:buNone/>
              <a:defRPr sz="2844" b="1">
                <a:latin typeface="+mj-lt"/>
              </a:defRPr>
            </a:lvl1pPr>
            <a:lvl2pPr marL="812810" indent="0">
              <a:buNone/>
              <a:defRPr sz="2844" b="1"/>
            </a:lvl2pPr>
            <a:lvl3pPr marL="1625620" indent="0">
              <a:buNone/>
              <a:defRPr sz="2844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567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1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8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0" y="586249"/>
            <a:ext cx="3070199" cy="917589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4" y="1736623"/>
            <a:ext cx="3070199" cy="2665118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7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7" y="800101"/>
            <a:ext cx="3077573" cy="988142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800100"/>
            <a:ext cx="4629150" cy="3595688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7" y="1914525"/>
            <a:ext cx="3077573" cy="248721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4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0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748480"/>
            <a:ext cx="1761782" cy="37387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748480"/>
            <a:ext cx="6303092" cy="37387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30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2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91572"/>
            <a:ext cx="8018449" cy="1028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1719845"/>
            <a:ext cx="8018449" cy="2727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8" y="4767263"/>
            <a:ext cx="34047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6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4767263"/>
            <a:ext cx="5042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542925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4607086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68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504" userDrawn="1">
          <p15:clr>
            <a:srgbClr val="F26B43"/>
          </p15:clr>
        </p15:guide>
        <p15:guide id="4" orient="horz" pos="684" userDrawn="1">
          <p15:clr>
            <a:srgbClr val="F26B43"/>
          </p15:clr>
        </p15:guide>
        <p15:guide id="5" pos="5382" userDrawn="1">
          <p15:clr>
            <a:srgbClr val="F26B43"/>
          </p15:clr>
        </p15:guide>
        <p15:guide id="6" pos="378" userDrawn="1">
          <p15:clr>
            <a:srgbClr val="F26B43"/>
          </p15:clr>
        </p15:guide>
        <p15:guide id="7" orient="horz" pos="2898" userDrawn="1">
          <p15:clr>
            <a:srgbClr val="F26B43"/>
          </p15:clr>
        </p15:guide>
        <p15:guide id="8" orient="horz" pos="3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93481"/>
            <a:ext cx="8046720" cy="1325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>
                <a:solidFill>
                  <a:srgbClr val="FFFFFF"/>
                </a:solidFill>
                <a:ea typeface="+mn-lt"/>
                <a:cs typeface="+mn-lt"/>
              </a:rPr>
              <a:t>Database Management System </a:t>
            </a: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</a:t>
            </a:r>
            <a:r>
              <a:rPr lang="en-US" sz="3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Gebar Commercial Bank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310128"/>
            <a:ext cx="2926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456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8FA8"/>
                </a:solidFill>
                <a:latin typeface="Calibri"/>
                <a:ea typeface="Calibri"/>
                <a:cs typeface="Calibri"/>
              </a:rPr>
              <a:t>Group 5  ·  Software Engineering  ·  AASTU  ·  SWEG2108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Yaynshet Medihn   |   Submission: 22/05/2026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464596" y="438118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Elabem  ·  Elsabet  ·  Enjifeto  ·  Ermias  ·  Ewenetu  ·  Kasim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Gebar Commercial Bank, a mid-sized Ethiopian bank, relies on a semi-manual data system that cannot keep pace with its growing customer and transaction volumes.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21792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transaction data duplicated across departments with no single source of truth.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7452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Issues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828032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constraints lead to inconsistent records and mismatched balances.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21792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lookups cause delays in serving customers and generating reports.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3464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 Delays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828032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manual approvals slow down disbursement and tracking.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9476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Difficulty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21792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system to track transactions and accounts across all branches.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3977640" cy="80467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9476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Decision Support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4828032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timely, accurate reports for operational decisions.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DESIGN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727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comprehensive Bank Management System using both relational (MS SQL Server) and NoSQL (MongoDB) to improve efficiency, accuracy, and scalability of core banking operations.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86868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requirements and identify entities &amp; relationships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868680" y="2962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conceptual ER model and normalize to BCNF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system in MS SQL Server and MongoDB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input forms and output reports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6868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system and document results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94360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943600" y="2567245"/>
            <a:ext cx="2743200" cy="198344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 Management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080760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Savings &amp; Current Accounts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080760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 Processing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080760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Loan Management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080760" y="4041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Branch &amp; Employee Ops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6080760" y="4370832"/>
            <a:ext cx="2286000" cy="1828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Entities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branch_id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429768" y="1783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phone, manager_id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3218688" y="1188720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188720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328416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customer_id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3328416" y="1783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email, national_id, branch_id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108192" y="1188720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1188720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217920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account_no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balance, open_date, status, branch_id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50592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29768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loan_id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29768" y="30449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amount, rate, duration, status, installment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218688" y="2450592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2450592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3328416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transaction_id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3328416" y="30449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amount, date, reference, branch_id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108192" y="2450592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2450592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217920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employee_id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6217920" y="30449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position, salary, hire_date, branch_id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20040" y="3712464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712464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Payments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429768" y="4096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payment_id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429768" y="4306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amount, principal, interest, balance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3218688" y="3712464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8688" y="3712464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3328416" y="4096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user_id</a:t>
            </a:r>
            <a:endParaRPr lang="en-US" sz="950"/>
          </a:p>
        </p:txBody>
      </p:sp>
      <p:sp>
        <p:nvSpPr>
          <p:cNvPr id="45" name="Text 43"/>
          <p:cNvSpPr/>
          <p:nvPr/>
        </p:nvSpPr>
        <p:spPr>
          <a:xfrm>
            <a:off x="3328416" y="4306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role, status, employee_id, customer_id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108192" y="3712464"/>
            <a:ext cx="2697480" cy="10972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3712464"/>
            <a:ext cx="269748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6217920" y="4096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log_id</a:t>
            </a:r>
            <a:endParaRPr lang="en-US" sz="950"/>
          </a:p>
        </p:txBody>
      </p:sp>
      <p:sp>
        <p:nvSpPr>
          <p:cNvPr id="50" name="Text 48"/>
          <p:cNvSpPr/>
          <p:nvPr/>
        </p:nvSpPr>
        <p:spPr>
          <a:xfrm>
            <a:off x="6217920" y="43068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action, old/new values, employee_id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347472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1783080" y="1572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148840" y="15727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639312" y="1609344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6093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783080" y="19659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2148840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639312" y="2002536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00253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594360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1783080" y="23591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148840" y="2359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639312" y="2395728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23957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594360" y="2752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1783080" y="27523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2148840" y="27523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639312" y="2788920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27889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594360" y="31455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1783080" y="31455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2148840" y="31455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639312" y="3182112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1821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59436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1783080" y="3538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2148840" y="3538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3639312" y="3575304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35753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59436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178308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2148840" y="3931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3639312" y="3968496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39684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594360" y="4325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1783080" y="43251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2148840" y="43251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Payments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3639312" y="4361688"/>
            <a:ext cx="566928" cy="219456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36168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466344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Structure</a:t>
            </a:r>
            <a:endParaRPr lang="en-US" sz="950"/>
          </a:p>
        </p:txBody>
      </p:sp>
      <p:sp>
        <p:nvSpPr>
          <p:cNvPr id="49" name="Shape 47"/>
          <p:cNvSpPr/>
          <p:nvPr/>
        </p:nvSpPr>
        <p:spPr>
          <a:xfrm>
            <a:off x="4663440" y="1463040"/>
            <a:ext cx="4114800" cy="347472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29767" y="1664208"/>
            <a:ext cx="118872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79340" y="16726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4754880" y="230079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2431" y="2300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CUSTOMER     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6268346" y="230079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75044" y="2300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EMPLOYEE  </a:t>
            </a:r>
            <a:endParaRPr lang="en-US" sz="850"/>
          </a:p>
        </p:txBody>
      </p:sp>
      <p:sp>
        <p:nvSpPr>
          <p:cNvPr id="56" name="Shape 54"/>
          <p:cNvSpPr/>
          <p:nvPr/>
        </p:nvSpPr>
        <p:spPr>
          <a:xfrm>
            <a:off x="4746476" y="3431017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2431" y="343942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TRANSACTION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6262632" y="3439421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0499" y="3431017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     LOAN PMTS</a:t>
            </a:r>
            <a:endParaRPr lang="en-US" sz="850">
              <a:solidFill>
                <a:srgbClr val="000000"/>
              </a:solidFill>
              <a:latin typeface="Calisto MT"/>
              <a:ea typeface="Calibri"/>
              <a:cs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747484" y="400507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47485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USERS                   </a:t>
            </a:r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63640" y="400507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1191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AUDIT LOG       </a:t>
            </a:r>
            <a:endParaRPr lang="en-US" sz="850" dirty="0">
              <a:solidFill>
                <a:srgbClr val="E8E8E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709160" y="4800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ERD and logical schema diagrams available in project files.</a:t>
            </a:r>
            <a:endParaRPr lang="en-US" sz="850"/>
          </a:p>
        </p:txBody>
      </p:sp>
      <p:sp>
        <p:nvSpPr>
          <p:cNvPr id="65" name="Shape 50">
            <a:extLst>
              <a:ext uri="{FF2B5EF4-FFF2-40B4-BE49-F238E27FC236}">
                <a16:creationId xmlns:a16="http://schemas.microsoft.com/office/drawing/2014/main" id="{4FF0B83D-9F55-48CA-F068-B98657FED4C3}"/>
              </a:ext>
            </a:extLst>
          </p:cNvPr>
          <p:cNvSpPr/>
          <p:nvPr/>
        </p:nvSpPr>
        <p:spPr>
          <a:xfrm>
            <a:off x="4754880" y="287229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66" name="Shape 50">
            <a:extLst>
              <a:ext uri="{FF2B5EF4-FFF2-40B4-BE49-F238E27FC236}">
                <a16:creationId xmlns:a16="http://schemas.microsoft.com/office/drawing/2014/main" id="{5D934E59-1C03-C9A2-5C89-D8EEEF01045F}"/>
              </a:ext>
            </a:extLst>
          </p:cNvPr>
          <p:cNvSpPr/>
          <p:nvPr/>
        </p:nvSpPr>
        <p:spPr>
          <a:xfrm>
            <a:off x="6276079" y="2872292"/>
            <a:ext cx="1417320" cy="274320"/>
          </a:xfrm>
          <a:prstGeom prst="rect">
            <a:avLst/>
          </a:prstGeom>
          <a:solidFill>
            <a:srgbClr val="2E324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815E3554-AFC1-9C2A-8589-FA1181F9A900}"/>
              </a:ext>
            </a:extLst>
          </p:cNvPr>
          <p:cNvSpPr/>
          <p:nvPr/>
        </p:nvSpPr>
        <p:spPr>
          <a:xfrm>
            <a:off x="6010498" y="2867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ACCOUNT</a:t>
            </a:r>
            <a:endParaRPr lang="en-US" sz="850" dirty="0">
              <a:solidFill>
                <a:srgbClr val="E8E8E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Text 57">
            <a:extLst>
              <a:ext uri="{FF2B5EF4-FFF2-40B4-BE49-F238E27FC236}">
                <a16:creationId xmlns:a16="http://schemas.microsoft.com/office/drawing/2014/main" id="{A31B16AB-14A0-38D8-53FD-15C6F0C67A1F}"/>
              </a:ext>
            </a:extLst>
          </p:cNvPr>
          <p:cNvSpPr/>
          <p:nvPr/>
        </p:nvSpPr>
        <p:spPr>
          <a:xfrm>
            <a:off x="4573344" y="2867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LOAN       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UNF to BCNF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828800"/>
            <a:ext cx="18288" cy="164592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658368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1325880" y="1188720"/>
            <a:ext cx="740664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463040" y="14813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flat table with repeating groups and multi-valued attributes per customer.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758952" y="2596896"/>
            <a:ext cx="18288" cy="164592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56816"/>
            <a:ext cx="658368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0253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1325880" y="1956816"/>
            <a:ext cx="740664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463040" y="224942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groups eliminated. 9 separate tables created with atomic columns.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758952" y="3364992"/>
            <a:ext cx="18288" cy="164592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24912"/>
            <a:ext cx="658368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706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1325880" y="2724912"/>
            <a:ext cx="740664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98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463040" y="301752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single-column PKs — no partial dependencies possible.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758952" y="4133088"/>
            <a:ext cx="18288" cy="164592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93008"/>
            <a:ext cx="658368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3872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1325880" y="3493008"/>
            <a:ext cx="740664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463040" y="378561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Employee details isolated. Transitive dependencies removed.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658368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0682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1325880" y="4261104"/>
            <a:ext cx="7406640" cy="56692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4334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Form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1463040" y="455371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candidate key. No violations found in any table.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8275320" cy="10972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Normalized Schema (BCNF)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— all primary keys are the sole determinants of their non-trivial functional dependencies.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75320" cy="329184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269748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07492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75320" cy="32004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697480" y="1984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branch_id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074920" y="1984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2276856"/>
            <a:ext cx="8275320" cy="320040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697480" y="2322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74920" y="2322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branch_id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8275320" cy="32004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60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2697480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74920" y="26609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branch_id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2953512"/>
            <a:ext cx="8275320" cy="320040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269748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074920" y="2999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branch_id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75320" cy="32004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2697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07492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A8FA8"/>
                </a:solidFill>
                <a:latin typeface="Calibri"/>
                <a:ea typeface="Calibri"/>
                <a:cs typeface="Calibri"/>
              </a:rPr>
              <a:t>account_no</a:t>
            </a:r>
            <a:r>
              <a:rPr lang="en-US" sz="1000" dirty="0">
                <a:solidFill>
                  <a:srgbClr val="8A8FA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00" dirty="0" err="1">
                <a:solidFill>
                  <a:srgbClr val="8A8FA8"/>
                </a:solidFill>
                <a:latin typeface="Calibri"/>
                <a:ea typeface="Calibri"/>
                <a:cs typeface="Calibri"/>
              </a:rPr>
              <a:t>branch_id</a:t>
            </a:r>
          </a:p>
        </p:txBody>
      </p:sp>
      <p:sp>
        <p:nvSpPr>
          <p:cNvPr id="31" name="Shape 29"/>
          <p:cNvSpPr/>
          <p:nvPr/>
        </p:nvSpPr>
        <p:spPr>
          <a:xfrm>
            <a:off x="457200" y="3630168"/>
            <a:ext cx="8275320" cy="320040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269748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07492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branch_id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3968496"/>
            <a:ext cx="8275320" cy="32004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014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Payments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2697480" y="4014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5074920" y="4014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loan_id, employee_id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4306824"/>
            <a:ext cx="8275320" cy="320040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352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2697480" y="4352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5074920" y="43525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employee_id, customer_id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8275320" cy="32004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690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2697480" y="4690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074920" y="4690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MS SQL Server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gebar_bank_db   ·   9 Tables   ·   BCNF Schema   ·   Files: schema.sql, queries.sql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023360" cy="12070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27632"/>
            <a:ext cx="45720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tables have enforced PKs. 12+ FK relationships maintain referential integrity across all entities.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023360" cy="12070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27632"/>
            <a:ext cx="45720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846320" y="20665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 on Users.role ('manager','teller','customer'). AuditLog.action limited to INSERT, UPDATE, DELETE.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2070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45720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DECIMAL(15,2) for all financial amounts. DATETIME for timestamps. UNIQUE on national_id and employee email.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2070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17520"/>
            <a:ext cx="45720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Logic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defaults to CURRENT_TIMESTAMP. Loan status defaults to 'Pending'. User status defaults to 'Active'.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827532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354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/>
                <a:ea typeface="Consolas" pitchFamily="34" charset="-122"/>
                <a:cs typeface="Consolas" pitchFamily="34" charset="-120"/>
              </a:rPr>
              <a:t>CREATE TABLE Loan ( </a:t>
            </a:r>
            <a:r>
              <a:rPr lang="en-US" sz="900" dirty="0" err="1">
                <a:solidFill>
                  <a:srgbClr val="C9A84C"/>
                </a:solidFill>
                <a:latin typeface="Consolas"/>
                <a:ea typeface="Consolas" pitchFamily="34" charset="-122"/>
                <a:cs typeface="Consolas" pitchFamily="34" charset="-120"/>
              </a:rPr>
              <a:t>loan_id</a:t>
            </a:r>
            <a:r>
              <a:rPr lang="en-US" sz="900" dirty="0">
                <a:solidFill>
                  <a:srgbClr val="C9A84C"/>
                </a:solidFill>
                <a:latin typeface="Consolas"/>
                <a:ea typeface="Consolas" pitchFamily="34" charset="-122"/>
                <a:cs typeface="Consolas" pitchFamily="34" charset="-120"/>
              </a:rPr>
              <a:t> VARCHAR(20) PRIMARY KEY,  </a:t>
            </a:r>
            <a:r>
              <a:rPr lang="en-US" sz="900" dirty="0" err="1">
                <a:solidFill>
                  <a:srgbClr val="C9A84C"/>
                </a:solidFill>
                <a:latin typeface="Consolas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900" dirty="0">
                <a:solidFill>
                  <a:srgbClr val="C9A84C"/>
                </a:solidFill>
                <a:latin typeface="Consolas"/>
                <a:ea typeface="Consolas" pitchFamily="34" charset="-122"/>
                <a:cs typeface="Consolas" pitchFamily="34" charset="-120"/>
              </a:rPr>
              <a:t> VARCHAR(20) NOT NULL,  status VARCHAR(30) DEFAULT 'Pending', ... )</a:t>
            </a:r>
            <a:endParaRPr lang="en-US" sz="900" dirty="0"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MongoDB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gebar_bank   ·   9 Collections   ·   Document-oriented   ·   Files: collections.json, queries.js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31089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38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adapts to varying banking record shapes without migration.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3566160" cy="1828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33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621792" y="2889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embedded in account documents where appropriate.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594360" y="3255264"/>
            <a:ext cx="3566160" cy="1828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28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21792" y="3584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reporting queries (loan summaries, account statements) via pipeline stages.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94360" y="3950208"/>
            <a:ext cx="3566160" cy="1828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21792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all 9 SQL entities as collections — same business rules, different paradigm.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57200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MongoDB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72000" y="1828800"/>
            <a:ext cx="4206240" cy="31089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920240"/>
            <a:ext cx="4206240" cy="438912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6016752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7333488" y="2011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572000" y="2395728"/>
            <a:ext cx="4206240" cy="438912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487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6016752" y="2487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/ BCNF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7333488" y="2487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572000" y="2871216"/>
            <a:ext cx="4206240" cy="43891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6016752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7333488" y="29626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refs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4572000" y="3346704"/>
            <a:ext cx="4206240" cy="438912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6016752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7333488" y="34381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/ Pipeline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4572000" y="3822192"/>
            <a:ext cx="4206240" cy="43891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913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6016752" y="3913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7333488" y="39136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 (4.0+)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4572000" y="4297680"/>
            <a:ext cx="4206240" cy="438912"/>
          </a:xfrm>
          <a:prstGeom prst="rect">
            <a:avLst/>
          </a:prstGeom>
          <a:solidFill>
            <a:srgbClr val="1C1F2E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/>
          </a:p>
        </p:txBody>
      </p:sp>
      <p:sp>
        <p:nvSpPr>
          <p:cNvPr id="44" name="Text 42"/>
          <p:cNvSpPr/>
          <p:nvPr/>
        </p:nvSpPr>
        <p:spPr>
          <a:xfrm>
            <a:off x="6016752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joins</a:t>
            </a:r>
            <a:endParaRPr lang="en-US" sz="950"/>
          </a:p>
        </p:txBody>
      </p:sp>
      <p:sp>
        <p:nvSpPr>
          <p:cNvPr id="45" name="Text 43"/>
          <p:cNvSpPr/>
          <p:nvPr/>
        </p:nvSpPr>
        <p:spPr>
          <a:xfrm>
            <a:off x="7333488" y="4389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docs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Forms &amp; Output Reports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Forms  (11 total)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840480" cy="340156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1907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Registration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94360" y="2304288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Registration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054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94360" y="2889504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980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594360" y="318211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94360" y="3474720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94360" y="3767328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94360" y="4059936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684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Payments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594360" y="4352544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61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94360" y="464515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537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Reports  (5 total)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663440" y="1508760"/>
            <a:ext cx="4114800" cy="5943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508760"/>
            <a:ext cx="457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563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800600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 for a customer account over a selected date range.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663440" y="2185416"/>
            <a:ext cx="4114800" cy="5943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185416"/>
            <a:ext cx="457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240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4800600" y="2478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list of all registered customers with their profile details.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663440" y="2862072"/>
            <a:ext cx="4114800" cy="5943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862072"/>
            <a:ext cx="457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16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Summary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80060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outstanding balance for all active and completed loans.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663440" y="3538728"/>
            <a:ext cx="4114800" cy="5943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538728"/>
            <a:ext cx="457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593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List</a:t>
            </a:r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4800600" y="3831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of all staff across branches with roles and contact info.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4663440" y="4215384"/>
            <a:ext cx="4114800" cy="59436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215384"/>
            <a:ext cx="457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270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4800600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currently active accounts with current balances by branch.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implementations were tested independently across the following areas: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75320" cy="7498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1371600" cy="74980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0136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38528" y="167335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—  All INSERT, SELECT, UPDATE, DELETE verified on all 9 tables.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938528" y="200253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 —  Equivalent operations tested on all 9 collections.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8275320" cy="7498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41448"/>
            <a:ext cx="1371600" cy="74980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42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938528" y="25146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—  FK violations, CHECK constraint failures, and UNIQUE conflicts all handled correctly.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38528" y="284378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 —  Application-level validation and schema validation rules tested.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8275320" cy="7498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82696"/>
            <a:ext cx="1371600" cy="74980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8386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938528" y="335584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—  Multi-table JOIN queries, aggregations, and indexed lookups benchmarked.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938528" y="368503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 —  Aggregation pipeline stages and embedded document queries verified.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8275320" cy="749808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23944"/>
            <a:ext cx="1371600" cy="749808"/>
          </a:xfrm>
          <a:prstGeom prst="rect">
            <a:avLst/>
          </a:prstGeom>
          <a:solidFill>
            <a:srgbClr val="2E324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3251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938528" y="419709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—  All 5 management reports generated with accurate results from sample data.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938528" y="452628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 —  Same 5 report types reproduced using pipeline aggregations.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database success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1591056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MS SQL Server and MongoDB implementations successfully support all core banking operations.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98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eliminated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349240" y="1591056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normalization removed all data duplication. No insertion, update, or deletion anomalies remain.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143000" y="25420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enforced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143000" y="28529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constraints, CHECK rules, and UNIQUE indexes maintain correct data across all 9 tables.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5349240" y="25420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49240" y="28529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management reports produce accurate results from sample data in both SQL and MongoDB.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22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1143000" y="380390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strengths confirmed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143000" y="41148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excels at structured queries, complex JOINs, and enforced relational constraints.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663440" y="3712464"/>
            <a:ext cx="3977640" cy="107899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22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349240" y="380390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strengths confirmed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349240" y="41148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provides flexible document storage and powerful aggregation pipelines for reporting.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47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931920" cy="8686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45720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727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paradigm design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same business logic to both relational and document-oriented models required different structural thinking.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3931920" cy="8686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87168"/>
            <a:ext cx="45720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78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between systems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21792" y="285292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SQL and MongoDB implementations synchronized with the same business rules was non-trivial.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3931920" cy="868680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93008"/>
            <a:ext cx="45720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844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parity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21792" y="385876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SQL CHECK constraints and FK enforcement in MongoDB required application-level validation.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754880" y="1481328"/>
            <a:ext cx="402336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536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919472" y="17556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live synchronization between MS SQL Server and MongoDB.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754880" y="2103120"/>
            <a:ext cx="402336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157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919472" y="237744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web/mobile UI connecting to either database dynamically.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754880" y="2724912"/>
            <a:ext cx="402336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919472" y="29992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indexing strategies, query caching, and execution plan analysis.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754880" y="3346704"/>
            <a:ext cx="402336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4015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919472" y="36210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RBAC, password hashing, TLS encryption, and audit trail dashboard.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754880" y="3968496"/>
            <a:ext cx="4023360" cy="530352"/>
          </a:xfrm>
          <a:prstGeom prst="rect">
            <a:avLst/>
          </a:prstGeom>
          <a:solidFill>
            <a:srgbClr val="252837"/>
          </a:solidFill>
          <a:ln w="12700">
            <a:solidFill>
              <a:srgbClr val="2E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023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scope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919472" y="4242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banking, ATM integration, and payment gateway connectivity.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96112" y="21031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normalized BCNF schema was designed covering 9 entities and all core banking operations.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96112" y="272491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MS SQL Server (relational) and MongoDB (NoSQL) were implemented and tested independently.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96112" y="33467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and anomalies are eliminated; integrity is enforced through constraints.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96112" y="39684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approach provides scalability and positions the system for future expansion.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4864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SWEG2108  ·  Addis Ababa Science and Technology University  · 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ChronicleVTI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84</cp:revision>
  <dcterms:created xsi:type="dcterms:W3CDTF">2026-05-21T22:33:23Z</dcterms:created>
  <dcterms:modified xsi:type="dcterms:W3CDTF">2026-05-22T11:55:32Z</dcterms:modified>
</cp:coreProperties>
</file>